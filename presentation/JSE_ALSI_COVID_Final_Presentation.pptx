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t>Mean absolute daily return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Mean absolute daily return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Pre-COVID</c:v>
                </c:pt>
                <c:pt idx="1">
                  <c:v>COVID Shock</c:v>
                </c:pt>
                <c:pt idx="2">
                  <c:v>Recovery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0.91037140000000005</c:v>
                </c:pt>
                <c:pt idx="1">
                  <c:v>3.9949441999999999</c:v>
                </c:pt>
                <c:pt idx="2">
                  <c:v>1.0199578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48-49FC-9D4E-916979AB53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.5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35717-A2A2-4306-AAA6-AAD95A5448C6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3EE1FC-0698-4FC5-967F-1002681FC6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518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the central finding: COVID Shock is the clear statistical and descriptive outlier, while Recovery moves back toward Pre-COVID.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the main question is whether the magnitude of market movements differs across the three defined periods. H0 states equality; H1 states at least one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Clarify that 501 observations are in the full dataset, but only 252 have one of the three analytical period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both ANOVA and non-parametric methods are reported. Normality and equal variance assumptions are not uniformly satisfied. Welch ANOVA was intentionally not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Focus on the mean and standard deviation contrast: COVID Shock is much higher and more dispersed.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Shapiro–Wilk decisions using p-values. Two groups reject normality; COVID Shock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plots as visual evidence. Highlight departures from the reference line, especially in the 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robust variance testing and Bartlett both reject equal variances.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ANOVA result and its limitation: it detects mean differences but should not be interpreted alone because assumptions are violated.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Kruskal–Wallis provides non-parametric confirmation that the distributions/ranks differ across periods.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Bonferroni alpha = 0.01667 and the three pairwise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Bring all evidence together: temporary shock, significant COVID Shock differences, and Recovery close to Pre-COVID.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the final conclusion clearly and avoid causal overclaiming.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Acknowledge proxy, sample-size and period-definition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to the reproducibility files submitted with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50791" cy="6858000"/>
          </a:xfrm>
          <a:prstGeom prst="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040880" cy="10972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Impact of COVID-19 on</a:t>
            </a:r>
            <a:br/>
            <a:r>
              <a:t>JSE/ALSI Market Volatility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240280"/>
            <a:ext cx="6583680" cy="7772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700" b="0">
                <a:solidFill>
                  <a:srgbClr val="CDDAE6"/>
                </a:solidFill>
                <a:latin typeface="Aptos"/>
              </a:defRPr>
            </a:pPr>
            <a:r>
              <a:t>Statistical analysis of absolute daily returns across Pre-COVID, COVID Shock and Recovery periods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82112"/>
            <a:ext cx="1051560" cy="50292"/>
          </a:xfrm>
          <a:prstGeom prst="rect">
            <a:avLst/>
          </a:prstGeom>
          <a:solidFill>
            <a:srgbClr val="26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6126480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Computational Finance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60520"/>
            <a:ext cx="6126480" cy="320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150" b="0">
                <a:solidFill>
                  <a:srgbClr val="C3D0DC"/>
                </a:solidFill>
                <a:latin typeface="Aptos"/>
              </a:defRPr>
            </a:pPr>
            <a:r>
              <a:t>Indian Institute of Technology (Indian School of Mines), Dhanbad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92040"/>
            <a:ext cx="6126480" cy="320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Tushar Mukesh Gupta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57800"/>
            <a:ext cx="6126480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150" b="0">
                <a:solidFill>
                  <a:srgbClr val="CDDAE6"/>
                </a:solidFill>
                <a:latin typeface="Aptos"/>
              </a:defRPr>
            </a:pPr>
            <a:r>
              <a:t>Admission / Registration No.: 25MB0108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15000"/>
            <a:ext cx="6126480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150" b="0">
                <a:solidFill>
                  <a:srgbClr val="CDDAE6"/>
                </a:solidFill>
                <a:latin typeface="Aptos"/>
              </a:defRPr>
            </a:pPr>
            <a:r>
              <a:t>MBA (Business Analytics) |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9640" y="4617720"/>
            <a:ext cx="219456" cy="731520"/>
          </a:xfrm>
          <a:prstGeom prst="rect">
            <a:avLst/>
          </a:prstGeom>
          <a:solidFill>
            <a:srgbClr val="789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33688" y="4251959"/>
            <a:ext cx="219456" cy="1097280"/>
          </a:xfrm>
          <a:prstGeom prst="rect">
            <a:avLst/>
          </a:prstGeom>
          <a:solidFill>
            <a:srgbClr val="789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317736" y="4434840"/>
            <a:ext cx="219456" cy="914400"/>
          </a:xfrm>
          <a:prstGeom prst="rect">
            <a:avLst/>
          </a:prstGeom>
          <a:solidFill>
            <a:srgbClr val="789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701784" y="3703320"/>
            <a:ext cx="219456" cy="1645920"/>
          </a:xfrm>
          <a:prstGeom prst="rect">
            <a:avLst/>
          </a:prstGeom>
          <a:solidFill>
            <a:srgbClr val="789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085832" y="4114800"/>
            <a:ext cx="219456" cy="1234440"/>
          </a:xfrm>
          <a:prstGeom prst="rect">
            <a:avLst/>
          </a:prstGeom>
          <a:solidFill>
            <a:srgbClr val="789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469880" y="3337559"/>
            <a:ext cx="219456" cy="2011680"/>
          </a:xfrm>
          <a:prstGeom prst="rect">
            <a:avLst/>
          </a:prstGeom>
          <a:solidFill>
            <a:srgbClr val="789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853928" y="3840479"/>
            <a:ext cx="219456" cy="1508760"/>
          </a:xfrm>
          <a:prstGeom prst="rect">
            <a:avLst/>
          </a:prstGeom>
          <a:solidFill>
            <a:srgbClr val="789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237976" y="2788920"/>
            <a:ext cx="219456" cy="2560320"/>
          </a:xfrm>
          <a:prstGeom prst="rect">
            <a:avLst/>
          </a:prstGeom>
          <a:solidFill>
            <a:srgbClr val="789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 flipV="1">
            <a:off x="8549640" y="4434840"/>
            <a:ext cx="365760" cy="228600"/>
          </a:xfrm>
          <a:prstGeom prst="line">
            <a:avLst/>
          </a:prstGeom>
          <a:ln w="31750">
            <a:solidFill>
              <a:srgbClr val="C8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915400" y="4434840"/>
            <a:ext cx="384048" cy="137160"/>
          </a:xfrm>
          <a:prstGeom prst="line">
            <a:avLst/>
          </a:prstGeom>
          <a:ln w="31750">
            <a:solidFill>
              <a:srgbClr val="C8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299448" y="4160520"/>
            <a:ext cx="384048" cy="411480"/>
          </a:xfrm>
          <a:prstGeom prst="line">
            <a:avLst/>
          </a:prstGeom>
          <a:ln w="31750">
            <a:solidFill>
              <a:srgbClr val="C8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683496" y="4160520"/>
            <a:ext cx="384048" cy="137160"/>
          </a:xfrm>
          <a:prstGeom prst="line">
            <a:avLst/>
          </a:prstGeom>
          <a:ln w="31750">
            <a:solidFill>
              <a:srgbClr val="C8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067544" y="3657600"/>
            <a:ext cx="384048" cy="640080"/>
          </a:xfrm>
          <a:prstGeom prst="line">
            <a:avLst/>
          </a:prstGeom>
          <a:ln w="31750">
            <a:solidFill>
              <a:srgbClr val="C8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0451592" y="3246120"/>
            <a:ext cx="384048" cy="411480"/>
          </a:xfrm>
          <a:prstGeom prst="line">
            <a:avLst/>
          </a:prstGeom>
          <a:ln w="31750">
            <a:solidFill>
              <a:srgbClr val="C8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835640" y="2880360"/>
            <a:ext cx="384048" cy="365760"/>
          </a:xfrm>
          <a:prstGeom prst="line">
            <a:avLst/>
          </a:prstGeom>
          <a:ln w="31750">
            <a:solidFill>
              <a:srgbClr val="C8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77380"/>
                </a:solidFill>
                <a:latin typeface="Aptos"/>
              </a:defRPr>
            </a:pPr>
            <a:r>
              <a:t>What the statistical analysis shows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77380"/>
                </a:solidFill>
                <a:latin typeface="Aptos"/>
              </a:defRPr>
            </a:pPr>
            <a:r>
              <a:t>Computational Finance Project | IIT (ISM) Dhanbad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234440"/>
            <a:ext cx="64008" cy="1234440"/>
          </a:xfrm>
          <a:prstGeom prst="rect">
            <a:avLst/>
          </a:prstGeom>
          <a:solidFill>
            <a:srgbClr val="2E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399032"/>
            <a:ext cx="224028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050" b="1">
                <a:solidFill>
                  <a:srgbClr val="677380"/>
                </a:solidFill>
                <a:latin typeface="Aptos"/>
              </a:defRPr>
            </a:pPr>
            <a:r>
              <a:t>TOTAL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728216"/>
            <a:ext cx="2240280" cy="43891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400" b="1">
                <a:solidFill>
                  <a:srgbClr val="0F1F34"/>
                </a:solidFill>
                <a:latin typeface="Aptos"/>
              </a:defRPr>
            </a:pPr>
            <a:r>
              <a:t>501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084832"/>
            <a:ext cx="224028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919" b="0">
                <a:solidFill>
                  <a:srgbClr val="677380"/>
                </a:solidFill>
                <a:latin typeface="Aptos"/>
              </a:defRPr>
            </a:pPr>
            <a:r>
              <a:t>02 Jan 2019–31 Dec 2020 dataset range*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23444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1234440"/>
            <a:ext cx="64008" cy="1234440"/>
          </a:xfrm>
          <a:prstGeom prst="rect">
            <a:avLst/>
          </a:prstGeom>
          <a:solidFill>
            <a:srgbClr val="26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10712" y="1399032"/>
            <a:ext cx="224028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050" b="1">
                <a:solidFill>
                  <a:srgbClr val="677380"/>
                </a:solidFill>
                <a:latin typeface="Aptos"/>
              </a:defRPr>
            </a:pPr>
            <a:r>
              <a:t>ANALYTICAL OBSERVATIONS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1728216"/>
            <a:ext cx="2240280" cy="43891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400" b="1">
                <a:solidFill>
                  <a:srgbClr val="0F1F34"/>
                </a:solidFill>
                <a:latin typeface="Aptos"/>
              </a:defRPr>
            </a:pPr>
            <a:r>
              <a:t>252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2084832"/>
            <a:ext cx="224028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919" b="0">
                <a:solidFill>
                  <a:srgbClr val="677380"/>
                </a:solidFill>
                <a:latin typeface="Aptos"/>
              </a:defRPr>
            </a:pPr>
            <a:r>
              <a:t>Across three defined periods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123444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97880" y="1234440"/>
            <a:ext cx="64008" cy="1234440"/>
          </a:xfrm>
          <a:prstGeom prst="rect">
            <a:avLst/>
          </a:prstGeom>
          <a:solidFill>
            <a:srgbClr val="B9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62472" y="1399032"/>
            <a:ext cx="224028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050" b="1">
                <a:solidFill>
                  <a:srgbClr val="677380"/>
                </a:solidFill>
                <a:latin typeface="Aptos"/>
              </a:defRPr>
            </a:pPr>
            <a:r>
              <a:t>ANOVA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62472" y="1728216"/>
            <a:ext cx="2240280" cy="43891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400" b="1">
                <a:solidFill>
                  <a:srgbClr val="0F1F34"/>
                </a:solidFill>
                <a:latin typeface="Aptos"/>
              </a:defRPr>
            </a:pPr>
            <a:r>
              <a:t>F = 57.96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2472" y="2084832"/>
            <a:ext cx="224028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919" b="0">
                <a:solidFill>
                  <a:srgbClr val="677380"/>
                </a:solidFill>
                <a:latin typeface="Aptos"/>
              </a:defRPr>
            </a:pPr>
            <a:r>
              <a:t>p &lt; 0.001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9640" y="123444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549640" y="1234440"/>
            <a:ext cx="64008" cy="1234440"/>
          </a:xfrm>
          <a:prstGeom prst="rect">
            <a:avLst/>
          </a:prstGeom>
          <a:solidFill>
            <a:srgbClr val="A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14232" y="1399032"/>
            <a:ext cx="224028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050" b="1">
                <a:solidFill>
                  <a:srgbClr val="677380"/>
                </a:solidFill>
                <a:latin typeface="Aptos"/>
              </a:defRPr>
            </a:pPr>
            <a:r>
              <a:t>KRUSKAL–WALLIS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14232" y="1728216"/>
            <a:ext cx="2240280" cy="43891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400" b="1">
                <a:solidFill>
                  <a:srgbClr val="0F1F34"/>
                </a:solidFill>
                <a:latin typeface="Aptos"/>
              </a:defRPr>
            </a:pPr>
            <a:r>
              <a:t>χ² = 23.634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4232" y="2084832"/>
            <a:ext cx="224028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919" b="0">
                <a:solidFill>
                  <a:srgbClr val="677380"/>
                </a:solidFill>
                <a:latin typeface="Aptos"/>
              </a:defRPr>
            </a:pPr>
            <a:r>
              <a:t>p = 0.0001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2788920"/>
            <a:ext cx="10789920" cy="2468880"/>
          </a:xfrm>
          <a:prstGeom prst="rect">
            <a:avLst/>
          </a:prstGeom>
          <a:noFill/>
        </p:spPr>
        <p:txBody>
          <a:bodyPr wrap="square" lIns="76200" rIns="5080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7"/>
                </a:solidFill>
                <a:latin typeface="Aptos"/>
              </a:defRPr>
            </a:pPr>
            <a:r>
              <a:t>Absolute daily returns were substantially higher during the COVID Shock period (mean = 3.9949%) than Pre-COVID (0.9104%) and Recovery (1.0200%).</a:t>
            </a:r>
          </a:p>
          <a:p>
            <a:pPr>
              <a:spcAft>
                <a:spcPts val="800"/>
              </a:spcAft>
              <a:defRPr sz="1400">
                <a:solidFill>
                  <a:srgbClr val="232D37"/>
                </a:solidFill>
                <a:latin typeface="Aptos"/>
              </a:defRPr>
            </a:pPr>
            <a:r>
              <a:t>Shapiro–Wilk testing rejects normality for Pre-COVID and Recovery, while the COVID Shock sample does not reject normality (p = 0.28888).</a:t>
            </a:r>
          </a:p>
          <a:p>
            <a:pPr>
              <a:spcAft>
                <a:spcPts val="800"/>
              </a:spcAft>
              <a:defRPr sz="1400">
                <a:solidFill>
                  <a:srgbClr val="232D37"/>
                </a:solidFill>
                <a:latin typeface="Aptos"/>
              </a:defRPr>
            </a:pPr>
            <a:r>
              <a:t>The robust variance test and Bartlett’s test both indicate significant differences in group variances (p &lt; 0.001).</a:t>
            </a:r>
          </a:p>
          <a:p>
            <a:pPr>
              <a:spcAft>
                <a:spcPts val="800"/>
              </a:spcAft>
              <a:defRPr sz="1400">
                <a:solidFill>
                  <a:srgbClr val="232D37"/>
                </a:solidFill>
                <a:latin typeface="Aptos"/>
              </a:defRPr>
            </a:pPr>
            <a:r>
              <a:t>The Kruskal–Wallis test confirms a statistically significant difference across the three periods.</a:t>
            </a:r>
          </a:p>
          <a:p>
            <a:pPr>
              <a:spcAft>
                <a:spcPts val="800"/>
              </a:spcAft>
              <a:defRPr sz="1400">
                <a:solidFill>
                  <a:srgbClr val="232D37"/>
                </a:solidFill>
                <a:latin typeface="Aptos"/>
              </a:defRPr>
            </a:pPr>
            <a:r>
              <a:t>Pairwise Wilcoxon tests show significant differences for Pre-COVID vs COVID Shock and COVID Shock vs Recovery, but not for Pre-COVID vs Recovery.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669280"/>
            <a:ext cx="10698480" cy="411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950" b="0">
                <a:solidFill>
                  <a:srgbClr val="677380"/>
                </a:solidFill>
                <a:latin typeface="Aptos"/>
              </a:defRPr>
            </a:pPr>
            <a:r>
              <a:t>*The Stata date summary covers 02 Jan 2019 to 31 Dec 2020; 249 observations fall outside the three analytical period labels.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Research Objective &amp; Hypotheses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77380"/>
                </a:solidFill>
                <a:latin typeface="Aptos"/>
              </a:defRPr>
            </a:pPr>
            <a:r>
              <a:t>From market disruption to statistical inference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77380"/>
                </a:solidFill>
                <a:latin typeface="Aptos"/>
              </a:defRPr>
            </a:pPr>
            <a:r>
              <a:t>Computational Finance Project | IIT (ISM) Dhanbad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64008" cy="1234440"/>
          </a:xfrm>
          <a:prstGeom prst="rect">
            <a:avLst/>
          </a:prstGeom>
          <a:solidFill>
            <a:srgbClr val="2E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307592"/>
            <a:ext cx="507492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050" b="1">
                <a:solidFill>
                  <a:srgbClr val="677380"/>
                </a:solidFill>
                <a:latin typeface="Aptos"/>
              </a:defRPr>
            </a:pPr>
            <a:r>
              <a:t>PRIMARY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636776"/>
            <a:ext cx="5074920" cy="43891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400" b="1">
                <a:solidFill>
                  <a:srgbClr val="0F1F34"/>
                </a:solidFill>
                <a:latin typeface="Aptos"/>
              </a:defRPr>
            </a:pPr>
            <a:r>
              <a:t>Assess whether volatility changed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993392"/>
            <a:ext cx="507492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919" b="0">
                <a:solidFill>
                  <a:srgbClr val="677380"/>
                </a:solidFill>
                <a:latin typeface="Aptos"/>
              </a:defRPr>
            </a:pPr>
            <a:r>
              <a:t>Compare absolute daily returns across three COVID-related periods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97480"/>
            <a:ext cx="5029200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500" b="1">
                <a:solidFill>
                  <a:srgbClr val="0F1F34"/>
                </a:solidFill>
                <a:latin typeface="Aptos"/>
              </a:defRPr>
            </a:pPr>
            <a:r>
              <a:t>Research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5074920" cy="2468880"/>
          </a:xfrm>
          <a:prstGeom prst="rect">
            <a:avLst/>
          </a:prstGeom>
          <a:noFill/>
        </p:spPr>
        <p:txBody>
          <a:bodyPr wrap="square" lIns="76200" rIns="5080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7"/>
                </a:solidFill>
                <a:latin typeface="Aptos"/>
              </a:defRPr>
            </a:pPr>
            <a:r>
              <a:t>Did the magnitude of daily market movements differ across the three periods?</a:t>
            </a:r>
          </a:p>
          <a:p>
            <a:pPr>
              <a:spcAft>
                <a:spcPts val="800"/>
              </a:spcAft>
              <a:defRPr sz="1400">
                <a:solidFill>
                  <a:srgbClr val="232D37"/>
                </a:solidFill>
                <a:latin typeface="Aptos"/>
              </a:defRPr>
            </a:pPr>
            <a:r>
              <a:t>Was the COVID Shock period associated with materially higher absolute returns?</a:t>
            </a:r>
          </a:p>
          <a:p>
            <a:pPr>
              <a:spcAft>
                <a:spcPts val="800"/>
              </a:spcAft>
              <a:defRPr sz="1400">
                <a:solidFill>
                  <a:srgbClr val="232D37"/>
                </a:solidFill>
                <a:latin typeface="Aptos"/>
              </a:defRPr>
            </a:pPr>
            <a:r>
              <a:t>Did volatility return to a level statistically comparable with Pre-COVID conditions during Recovery?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43000"/>
            <a:ext cx="5303520" cy="452628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417320"/>
            <a:ext cx="4663440" cy="320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500" b="1">
                <a:solidFill>
                  <a:srgbClr val="0F1F34"/>
                </a:solidFill>
                <a:latin typeface="Aptos"/>
              </a:defRPr>
            </a:pPr>
            <a:r>
              <a:t>Statistical hypotheses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874519"/>
            <a:ext cx="4572000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300" b="1">
                <a:solidFill>
                  <a:srgbClr val="232D37"/>
                </a:solidFill>
                <a:latin typeface="Aptos"/>
              </a:defRPr>
            </a:pPr>
            <a:r>
              <a:t>H₀: The distributions / mean absolute daily returns are equal across the three periods.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43200"/>
            <a:ext cx="4572000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300" b="1">
                <a:solidFill>
                  <a:srgbClr val="232D37"/>
                </a:solidFill>
                <a:latin typeface="Aptos"/>
              </a:defRPr>
            </a:pPr>
            <a:r>
              <a:t>H₁: At least one period differs from the others.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03320"/>
            <a:ext cx="4572000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300" b="1">
                <a:solidFill>
                  <a:srgbClr val="232D37"/>
                </a:solidFill>
                <a:latin typeface="Aptos"/>
              </a:defRPr>
            </a:pPr>
            <a:r>
              <a:t>Pairwise H₀: Each specified pair has the same distribution of absolute daily returns.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709160"/>
            <a:ext cx="4572000" cy="5029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150" b="1">
                <a:solidFill>
                  <a:srgbClr val="677380"/>
                </a:solidFill>
                <a:latin typeface="Aptos"/>
              </a:defRPr>
            </a:pPr>
            <a:r>
              <a:t>For the three pairwise tests, Bonferroni-adjusted α = 0.05/3 = 0.01667.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Data &amp; Study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77380"/>
                </a:solidFill>
                <a:latin typeface="Aptos"/>
              </a:defRPr>
            </a:pPr>
            <a:r>
              <a:t>JSE/ALSI daily market observations and analytical segmentation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77380"/>
                </a:solidFill>
                <a:latin typeface="Aptos"/>
              </a:defRPr>
            </a:pPr>
            <a:r>
              <a:t>Computational Finance Project | IIT (ISM) Dhanbad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2468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64008" cy="1188720"/>
          </a:xfrm>
          <a:prstGeom prst="rect">
            <a:avLst/>
          </a:prstGeom>
          <a:solidFill>
            <a:srgbClr val="2E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307592"/>
            <a:ext cx="219456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050" b="1">
                <a:solidFill>
                  <a:srgbClr val="677380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636776"/>
            <a:ext cx="2194560" cy="43891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400" b="1">
                <a:solidFill>
                  <a:srgbClr val="0F1F34"/>
                </a:solidFill>
                <a:latin typeface="Aptos"/>
              </a:defRPr>
            </a:pPr>
            <a:r>
              <a:t>501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947672"/>
            <a:ext cx="219456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919" b="0">
                <a:solidFill>
                  <a:srgbClr val="677380"/>
                </a:solidFill>
                <a:latin typeface="Aptos"/>
              </a:defRPr>
            </a:pPr>
            <a:r>
              <a:t>Final Stata dataset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143000"/>
            <a:ext cx="2468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840" y="1143000"/>
            <a:ext cx="64008" cy="1188720"/>
          </a:xfrm>
          <a:prstGeom prst="rect">
            <a:avLst/>
          </a:prstGeom>
          <a:solidFill>
            <a:srgbClr val="26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56432" y="1307592"/>
            <a:ext cx="219456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050" b="1">
                <a:solidFill>
                  <a:srgbClr val="677380"/>
                </a:solidFill>
                <a:latin typeface="Aptos"/>
              </a:defRPr>
            </a:pPr>
            <a:r>
              <a:t>DATE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1636776"/>
            <a:ext cx="2194560" cy="43891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400" b="1">
                <a:solidFill>
                  <a:srgbClr val="0F1F34"/>
                </a:solidFill>
                <a:latin typeface="Aptos"/>
              </a:defRPr>
            </a:pPr>
            <a:r>
              <a:t>02 Jan 2019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1947672"/>
            <a:ext cx="219456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919" b="0">
                <a:solidFill>
                  <a:srgbClr val="677380"/>
                </a:solidFill>
                <a:latin typeface="Aptos"/>
              </a:defRPr>
            </a:pPr>
            <a:r>
              <a:t>to 31 Dec 2020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1143000"/>
            <a:ext cx="2468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0" y="1143000"/>
            <a:ext cx="64008" cy="1188720"/>
          </a:xfrm>
          <a:prstGeom prst="rect">
            <a:avLst/>
          </a:prstGeom>
          <a:solidFill>
            <a:srgbClr val="B9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08192" y="1307592"/>
            <a:ext cx="219456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050" b="1">
                <a:solidFill>
                  <a:srgbClr val="677380"/>
                </a:solidFill>
                <a:latin typeface="Aptos"/>
              </a:defRPr>
            </a:pPr>
            <a:r>
              <a:t>RETURN SERIES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192" y="1636776"/>
            <a:ext cx="2194560" cy="43891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400" b="1">
                <a:solidFill>
                  <a:srgbClr val="0F1F34"/>
                </a:solidFill>
                <a:latin typeface="Aptos"/>
              </a:defRPr>
            </a:pPr>
            <a:r>
              <a:t>500 valid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1947672"/>
            <a:ext cx="219456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919" b="0">
                <a:solidFill>
                  <a:srgbClr val="677380"/>
                </a:solidFill>
                <a:latin typeface="Aptos"/>
              </a:defRPr>
            </a:pPr>
            <a:r>
              <a:t>1 expected first return missing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95360" y="1143000"/>
            <a:ext cx="2468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595360" y="1143000"/>
            <a:ext cx="64008" cy="1188720"/>
          </a:xfrm>
          <a:prstGeom prst="rect">
            <a:avLst/>
          </a:prstGeom>
          <a:solidFill>
            <a:srgbClr val="A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59952" y="1307592"/>
            <a:ext cx="219456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050" b="1">
                <a:solidFill>
                  <a:srgbClr val="677380"/>
                </a:solidFill>
                <a:latin typeface="Aptos"/>
              </a:defRPr>
            </a:pPr>
            <a:r>
              <a:t>ANALYSIS SAMPLE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9952" y="1636776"/>
            <a:ext cx="2194560" cy="43891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400" b="1">
                <a:solidFill>
                  <a:srgbClr val="0F1F34"/>
                </a:solidFill>
                <a:latin typeface="Aptos"/>
              </a:defRPr>
            </a:pPr>
            <a:r>
              <a:t>252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9952" y="1947672"/>
            <a:ext cx="219456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919" b="0">
                <a:solidFill>
                  <a:srgbClr val="677380"/>
                </a:solidFill>
                <a:latin typeface="Aptos"/>
              </a:defRPr>
            </a:pPr>
            <a:r>
              <a:t>45 + 19 + 188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2697480"/>
            <a:ext cx="4754880" cy="320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500" b="1">
                <a:solidFill>
                  <a:srgbClr val="0F1F34"/>
                </a:solidFill>
                <a:latin typeface="Aptos"/>
              </a:defRPr>
            </a:pPr>
            <a:r>
              <a:t>Core variables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063240"/>
            <a:ext cx="4937760" cy="2560320"/>
          </a:xfrm>
          <a:prstGeom prst="rect">
            <a:avLst/>
          </a:prstGeom>
          <a:noFill/>
        </p:spPr>
        <p:txBody>
          <a:bodyPr wrap="square" lIns="76200" rIns="50800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232D37"/>
                </a:solidFill>
                <a:latin typeface="Aptos"/>
              </a:defRPr>
            </a:pPr>
            <a:r>
              <a:t>`date_stata` — Stata-formatted trading date</a:t>
            </a:r>
          </a:p>
          <a:p>
            <a:pPr>
              <a:spcAft>
                <a:spcPts val="800"/>
              </a:spcAft>
              <a:defRPr sz="1350">
                <a:solidFill>
                  <a:srgbClr val="232D37"/>
                </a:solidFill>
                <a:latin typeface="Aptos"/>
              </a:defRPr>
            </a:pPr>
            <a:r>
              <a:t>`close` — closing market level used for return calculation</a:t>
            </a:r>
          </a:p>
          <a:p>
            <a:pPr>
              <a:spcAft>
                <a:spcPts val="800"/>
              </a:spcAft>
              <a:defRPr sz="1350">
                <a:solidFill>
                  <a:srgbClr val="232D37"/>
                </a:solidFill>
                <a:latin typeface="Aptos"/>
              </a:defRPr>
            </a:pPr>
            <a:r>
              <a:t>`daily_return` — percentage daily return</a:t>
            </a:r>
          </a:p>
          <a:p>
            <a:pPr>
              <a:spcAft>
                <a:spcPts val="800"/>
              </a:spcAft>
              <a:defRPr sz="1350">
                <a:solidFill>
                  <a:srgbClr val="232D37"/>
                </a:solidFill>
                <a:latin typeface="Aptos"/>
              </a:defRPr>
            </a:pPr>
            <a:r>
              <a:t>`abs_daily_return` — absolute daily return used as the volatility proxy</a:t>
            </a:r>
          </a:p>
          <a:p>
            <a:pPr>
              <a:spcAft>
                <a:spcPts val="800"/>
              </a:spcAft>
              <a:defRPr sz="1350">
                <a:solidFill>
                  <a:srgbClr val="232D37"/>
                </a:solidFill>
                <a:latin typeface="Aptos"/>
              </a:defRPr>
            </a:pPr>
            <a:r>
              <a:t>`period` — Pre-COVID, COVID Shock and Recovery classification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2697480"/>
            <a:ext cx="4754880" cy="320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500" b="1">
                <a:solidFill>
                  <a:srgbClr val="0F1F34"/>
                </a:solidFill>
                <a:latin typeface="Aptos"/>
              </a:defRPr>
            </a:pPr>
            <a:r>
              <a:t>Period allocation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172200" y="3063240"/>
          <a:ext cx="51206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Share of full dataset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Pre-COVID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8.98%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COVID Shock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3.79%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37.52%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Outside defined periods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249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49.70%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Analytical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252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50.30%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Analytical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77380"/>
                </a:solidFill>
                <a:latin typeface="Aptos"/>
              </a:defRPr>
            </a:pPr>
            <a:r>
              <a:t>Why both parametric and non-parametric inference was retained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77380"/>
                </a:solidFill>
                <a:latin typeface="Aptos"/>
              </a:defRPr>
            </a:pPr>
            <a:r>
              <a:t>Computational Finance Project | IIT (ISM) Dhanbad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3383280" cy="155448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58952" y="1417320"/>
            <a:ext cx="475488" cy="475488"/>
          </a:xfrm>
          <a:prstGeom prst="ellipse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481328"/>
            <a:ext cx="475488" cy="20116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399032"/>
            <a:ext cx="2331720" cy="29260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300" b="1">
                <a:solidFill>
                  <a:srgbClr val="0F1F34"/>
                </a:solidFill>
                <a:latin typeface="Aptos"/>
              </a:defRPr>
            </a:pPr>
            <a:r>
              <a:t>Data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01368"/>
            <a:ext cx="2331720" cy="5943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050" b="0">
                <a:solidFill>
                  <a:srgbClr val="677380"/>
                </a:solidFill>
                <a:latin typeface="Aptos"/>
              </a:defRPr>
            </a:pPr>
            <a:r>
              <a:t>Dates, missing values, duplicates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234440"/>
            <a:ext cx="3383280" cy="155448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53712" y="1417320"/>
            <a:ext cx="475488" cy="475488"/>
          </a:xfrm>
          <a:prstGeom prst="ellipse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3712" y="1481328"/>
            <a:ext cx="475488" cy="20116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1399032"/>
            <a:ext cx="2331720" cy="29260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300" b="1">
                <a:solidFill>
                  <a:srgbClr val="0F1F34"/>
                </a:solidFill>
                <a:latin typeface="Aptos"/>
              </a:defRPr>
            </a:pPr>
            <a:r>
              <a:t>Return construction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1801368"/>
            <a:ext cx="2331720" cy="5943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050" b="0">
                <a:solidFill>
                  <a:srgbClr val="677380"/>
                </a:solidFill>
                <a:latin typeface="Aptos"/>
              </a:defRPr>
            </a:pPr>
            <a:r>
              <a:t>Daily % return and absolute return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234440"/>
            <a:ext cx="3383280" cy="155448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48472" y="1417320"/>
            <a:ext cx="475488" cy="475488"/>
          </a:xfrm>
          <a:prstGeom prst="ellipse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48472" y="1481328"/>
            <a:ext cx="475488" cy="20116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399032"/>
            <a:ext cx="2331720" cy="29260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300" b="1">
                <a:solidFill>
                  <a:srgbClr val="0F1F34"/>
                </a:solidFill>
                <a:latin typeface="Aptos"/>
              </a:defRPr>
            </a:pPr>
            <a:r>
              <a:t>Descriptive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1801368"/>
            <a:ext cx="2331720" cy="5943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050" b="0">
                <a:solidFill>
                  <a:srgbClr val="677380"/>
                </a:solidFill>
                <a:latin typeface="Aptos"/>
              </a:defRPr>
            </a:pPr>
            <a:r>
              <a:t>N, mean, SD, min, max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291840"/>
            <a:ext cx="3383280" cy="155448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58952" y="3474720"/>
            <a:ext cx="475488" cy="475488"/>
          </a:xfrm>
          <a:prstGeom prst="ellipse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3538728"/>
            <a:ext cx="475488" cy="20116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456432"/>
            <a:ext cx="2331720" cy="29260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300" b="1">
                <a:solidFill>
                  <a:srgbClr val="0F1F34"/>
                </a:solidFill>
                <a:latin typeface="Aptos"/>
              </a:defRPr>
            </a:pPr>
            <a:r>
              <a:t>Assumption testing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858768"/>
            <a:ext cx="2331720" cy="5943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050" b="0">
                <a:solidFill>
                  <a:srgbClr val="677380"/>
                </a:solidFill>
                <a:latin typeface="Aptos"/>
              </a:defRPr>
            </a:pPr>
            <a:r>
              <a:t>Shapiro–Wilk + variance tests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291840"/>
            <a:ext cx="3383280" cy="155448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53712" y="3474720"/>
            <a:ext cx="475488" cy="475488"/>
          </a:xfrm>
          <a:prstGeom prst="ellipse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53712" y="3538728"/>
            <a:ext cx="475488" cy="20116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3456432"/>
            <a:ext cx="2331720" cy="29260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300" b="1">
                <a:solidFill>
                  <a:srgbClr val="0F1F34"/>
                </a:solidFill>
                <a:latin typeface="Aptos"/>
              </a:defRPr>
            </a:pPr>
            <a:r>
              <a:t>Inference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60" y="3858768"/>
            <a:ext cx="2331720" cy="5943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050" b="0">
                <a:solidFill>
                  <a:srgbClr val="677380"/>
                </a:solidFill>
                <a:latin typeface="Aptos"/>
              </a:defRPr>
            </a:pPr>
            <a:r>
              <a:t>ANOVA + Kruskal–Wallis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80" y="3291840"/>
            <a:ext cx="3383280" cy="155448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348472" y="3474720"/>
            <a:ext cx="475488" cy="475488"/>
          </a:xfrm>
          <a:prstGeom prst="ellipse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48472" y="3538728"/>
            <a:ext cx="475488" cy="20116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3456432"/>
            <a:ext cx="2331720" cy="29260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300" b="1">
                <a:solidFill>
                  <a:srgbClr val="0F1F34"/>
                </a:solidFill>
                <a:latin typeface="Aptos"/>
              </a:defRPr>
            </a:pPr>
            <a:r>
              <a:t>Pairwise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3858768"/>
            <a:ext cx="2331720" cy="5943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050" b="0">
                <a:solidFill>
                  <a:srgbClr val="677380"/>
                </a:solidFill>
                <a:latin typeface="Aptos"/>
              </a:defRPr>
            </a:pPr>
            <a:r>
              <a:t>Wilcoxon rank-sum + Bonferroni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623560"/>
            <a:ext cx="10789920" cy="5029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150" b="1">
                <a:solidFill>
                  <a:srgbClr val="0F1F34"/>
                </a:solidFill>
                <a:latin typeface="Aptos"/>
              </a:defRPr>
            </a:pPr>
            <a:r>
              <a:t>Method choice: ANOVA is reported as the classical mean-comparison test, while Kruskal–Wallis and Wilcoxon provide assumption-robust non-parametric evidence. Welch ANOVA was not used.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897880"/>
            <a:ext cx="10698480" cy="438912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5980176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232D37"/>
                </a:solidFill>
                <a:latin typeface="Aptos"/>
              </a:defRPr>
            </a:pPr>
            <a:r>
              <a:t>Return construction: Daily return = [(Closeₜ − Closeₜ₋₁) / Closeₜ₋₁] × 100; volatility proxy = |Daily return|.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Descriptive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77380"/>
                </a:solidFill>
                <a:latin typeface="Aptos"/>
              </a:defRPr>
            </a:pPr>
            <a:r>
              <a:t>Absolute daily return (%) by analytical period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77380"/>
                </a:solidFill>
                <a:latin typeface="Aptos"/>
              </a:defRPr>
            </a:pPr>
            <a:r>
              <a:t>Computational Finance Project | IIT (ISM) Dhanbad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380"/>
                </a:solidFill>
                <a:latin typeface="Aptos"/>
              </a:defRPr>
            </a:pPr>
            <a: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234440"/>
          <a:ext cx="63093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SD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Pre-COVID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0.9104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1.0140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0.0451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4.5031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COVID Shock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3.9949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2.9500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0.0180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9.7213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1.0200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0.8584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0.0038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3.8802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252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1.2247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1.4083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0.0038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9.7213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452360" y="1234440"/>
          <a:ext cx="406908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160520"/>
            <a:ext cx="10515600" cy="320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500" b="1">
                <a:solidFill>
                  <a:srgbClr val="0F1F34"/>
                </a:solidFill>
                <a:latin typeface="Aptos"/>
              </a:defRPr>
            </a:pPr>
            <a:r>
              <a:t>Key descriptive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10607040" cy="1417320"/>
          </a:xfrm>
          <a:prstGeom prst="rect">
            <a:avLst/>
          </a:prstGeom>
          <a:noFill/>
        </p:spPr>
        <p:txBody>
          <a:bodyPr wrap="square" lIns="76200" rIns="50800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232D37"/>
                </a:solidFill>
                <a:latin typeface="Aptos"/>
              </a:defRPr>
            </a:pPr>
            <a:r>
              <a:t>COVID Shock has the highest mean absolute daily return (3.9949%) and the highest standard deviation (2.9500%).</a:t>
            </a:r>
          </a:p>
          <a:p>
            <a:pPr>
              <a:spcAft>
                <a:spcPts val="800"/>
              </a:spcAft>
              <a:defRPr sz="1350">
                <a:solidFill>
                  <a:srgbClr val="232D37"/>
                </a:solidFill>
                <a:latin typeface="Aptos"/>
              </a:defRPr>
            </a:pPr>
            <a:r>
              <a:t>Recovery mean (1.0200%) is close to Pre-COVID (0.9104%), while dispersion is lower in Recovery (0.8584% vs 1.0140%).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5897880" y="1456798"/>
            <a:ext cx="5715000" cy="4310162"/>
          </a:xfrm>
          <a:prstGeom prst="rect">
            <a:avLst/>
          </a:prstGeom>
          <a:noFill/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Normality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77380"/>
                </a:solidFill>
                <a:latin typeface="Aptos"/>
              </a:defRPr>
            </a:pPr>
            <a:r>
              <a:t>Shapiro–Wilk test and Stata Q–Q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77380"/>
                </a:solidFill>
                <a:latin typeface="Aptos"/>
              </a:defRPr>
            </a:pPr>
            <a:r>
              <a:t>Computational Finance Project | IIT (ISM) Dhanbad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380"/>
                </a:solidFill>
                <a:latin typeface="Aptos"/>
              </a:defRPr>
            </a:pPr>
            <a: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097280"/>
          <a:ext cx="484632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Pre-COVID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0.75482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Reject H₀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COVID Shock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0.94221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0.28888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Fail to reject H₀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0.88473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Reject H₀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3246120"/>
            <a:ext cx="480060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400" b="1">
                <a:solidFill>
                  <a:srgbClr val="0F1F34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4846320" cy="1691640"/>
          </a:xfrm>
          <a:prstGeom prst="rect">
            <a:avLst/>
          </a:prstGeom>
          <a:noFill/>
        </p:spPr>
        <p:txBody>
          <a:bodyPr wrap="square" lIns="76200" rIns="50800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t>Normality is rejected for Pre-COVID and Recovery.</a:t>
            </a:r>
          </a:p>
          <a:p>
            <a:pPr>
              <a:spcAft>
                <a:spcPts val="8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t>COVID Shock does not show significant evidence against normality at the 5% level.</a:t>
            </a:r>
          </a:p>
          <a:p>
            <a:pPr>
              <a:spcAft>
                <a:spcPts val="8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t>Because normality is not satisfied across all groups, non-parametric confirmation is important.</a:t>
            </a:r>
          </a:p>
        </p:txBody>
      </p:sp>
      <p:pic>
        <p:nvPicPr>
          <p:cNvPr id="11" name="Picture 10" descr="1f5dcae8-1f9e-4870-93c6-956f1b50d1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456798"/>
            <a:ext cx="5715000" cy="431016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89320" y="6199632"/>
            <a:ext cx="5486400" cy="2286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880" b="0">
                <a:solidFill>
                  <a:srgbClr val="677380"/>
                </a:solidFill>
                <a:latin typeface="Aptos"/>
              </a:defRPr>
            </a:pPr>
            <a:r>
              <a:t>Stata output: Shapiro–Wilk W tests by period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172200" y="1398713"/>
            <a:ext cx="5486400" cy="3831973"/>
          </a:xfrm>
          <a:prstGeom prst="rect">
            <a:avLst/>
          </a:prstGeom>
          <a:noFill/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85344"/>
            <a:ext cx="5486400" cy="3858710"/>
          </a:xfrm>
          <a:prstGeom prst="rect">
            <a:avLst/>
          </a:prstGeom>
          <a:noFill/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Normality: Q–Q Plots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77380"/>
                </a:solidFill>
                <a:latin typeface="Aptos"/>
              </a:defRPr>
            </a:pPr>
            <a:r>
              <a:t>Graphical assessment supports the formal test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77380"/>
                </a:solidFill>
                <a:latin typeface="Aptos"/>
              </a:defRPr>
            </a:pPr>
            <a:r>
              <a:t>Computational Finance Project | IIT (ISM) Dhanbad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380"/>
                </a:solidFill>
                <a:latin typeface="Aptos"/>
              </a:defRPr>
            </a:pPr>
            <a:r>
              <a:t>8</a:t>
            </a:r>
          </a:p>
        </p:txBody>
      </p:sp>
      <p:pic>
        <p:nvPicPr>
          <p:cNvPr id="8" name="Picture 7" descr="199d8e14-5527-47dd-be5b-0867203fa3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85344"/>
            <a:ext cx="5486400" cy="3858710"/>
          </a:xfrm>
          <a:prstGeom prst="rect">
            <a:avLst/>
          </a:prstGeom>
        </p:spPr>
      </p:pic>
      <p:pic>
        <p:nvPicPr>
          <p:cNvPr id="10" name="Picture 9" descr="f5a5bd7f-b389-498a-b301-eb9881e5a7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98713"/>
            <a:ext cx="5486400" cy="38319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5669280"/>
            <a:ext cx="5303520" cy="411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950" b="0">
                <a:solidFill>
                  <a:srgbClr val="677380"/>
                </a:solidFill>
                <a:latin typeface="Aptos"/>
              </a:defRPr>
            </a:pPr>
            <a:r>
              <a:t>Stata Q–Q plot shown from the submitted analysis output; visible curvature and upper-tail departures are consistent with non-normality.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5669280"/>
            <a:ext cx="5303520" cy="411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950" b="0">
                <a:solidFill>
                  <a:srgbClr val="677380"/>
                </a:solidFill>
                <a:latin typeface="Aptos"/>
              </a:defRPr>
            </a:pPr>
            <a:r>
              <a:t>Stata Q–Q plot shown from the submitted analysis output; pronounced upper-tail departure is visible.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Equality of Variances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77380"/>
                </a:solidFill>
                <a:latin typeface="Aptos"/>
              </a:defRPr>
            </a:pPr>
            <a:r>
              <a:t>Robust variance testing before interpreting group differences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77380"/>
                </a:solidFill>
                <a:latin typeface="Aptos"/>
              </a:defRPr>
            </a:pPr>
            <a:r>
              <a:t>Computational Finance Project | IIT (ISM) Dhanbad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64008" cy="1325880"/>
          </a:xfrm>
          <a:prstGeom prst="rect">
            <a:avLst/>
          </a:prstGeom>
          <a:solidFill>
            <a:srgbClr val="2E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307592"/>
            <a:ext cx="306324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050" b="1">
                <a:solidFill>
                  <a:srgbClr val="677380"/>
                </a:solidFill>
                <a:latin typeface="Aptos"/>
              </a:defRPr>
            </a:pPr>
            <a:r>
              <a:t>ROBUST W50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636776"/>
            <a:ext cx="3063240" cy="43891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400" b="1">
                <a:solidFill>
                  <a:srgbClr val="0F1F34"/>
                </a:solidFill>
                <a:latin typeface="Aptos"/>
              </a:defRPr>
            </a:pPr>
            <a:r>
              <a:t>W50 = 56.7504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84832"/>
            <a:ext cx="306324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919" b="0">
                <a:solidFill>
                  <a:srgbClr val="677380"/>
                </a:solidFill>
                <a:latin typeface="Aptos"/>
              </a:defRPr>
            </a:pPr>
            <a:r>
              <a:t>F(2,249), p &lt; 0.001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14300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143000"/>
            <a:ext cx="64008" cy="1325880"/>
          </a:xfrm>
          <a:prstGeom prst="rect">
            <a:avLst/>
          </a:prstGeom>
          <a:solidFill>
            <a:srgbClr val="26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9431" y="1307592"/>
            <a:ext cx="306324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050" b="1">
                <a:solidFill>
                  <a:srgbClr val="677380"/>
                </a:solidFill>
                <a:latin typeface="Aptos"/>
              </a:defRPr>
            </a:pPr>
            <a:r>
              <a:t>BARTLETT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1" y="1636776"/>
            <a:ext cx="3063240" cy="43891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400" b="1">
                <a:solidFill>
                  <a:srgbClr val="0F1F34"/>
                </a:solidFill>
                <a:latin typeface="Aptos"/>
              </a:defRPr>
            </a:pPr>
            <a:r>
              <a:t>χ²(2) = 93.0253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1" y="2084832"/>
            <a:ext cx="306324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919" b="0">
                <a:solidFill>
                  <a:srgbClr val="677380"/>
                </a:solidFill>
                <a:latin typeface="Aptos"/>
              </a:defRPr>
            </a:pPr>
            <a:r>
              <a:t>p &lt; 0.001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14300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143000"/>
            <a:ext cx="64008" cy="1325880"/>
          </a:xfrm>
          <a:prstGeom prst="rect">
            <a:avLst/>
          </a:prstGeom>
          <a:solidFill>
            <a:srgbClr val="A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94192" y="1307592"/>
            <a:ext cx="306324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050" b="1">
                <a:solidFill>
                  <a:srgbClr val="677380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1636776"/>
            <a:ext cx="3063240" cy="43891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400" b="1">
                <a:solidFill>
                  <a:srgbClr val="0F1F34"/>
                </a:solidFill>
                <a:latin typeface="Aptos"/>
              </a:defRPr>
            </a:pPr>
            <a:r>
              <a:t>Reject H₀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2084832"/>
            <a:ext cx="306324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919" b="0">
                <a:solidFill>
                  <a:srgbClr val="677380"/>
                </a:solidFill>
                <a:latin typeface="Aptos"/>
              </a:defRPr>
            </a:pPr>
            <a:r>
              <a:t>Variances are not equal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880360"/>
            <a:ext cx="5029200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500" b="1">
                <a:solidFill>
                  <a:srgbClr val="0F1F34"/>
                </a:solidFill>
                <a:latin typeface="Aptos"/>
              </a:defRPr>
            </a:pPr>
            <a:r>
              <a:t>What the result means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291840"/>
            <a:ext cx="5074920" cy="1920240"/>
          </a:xfrm>
          <a:prstGeom prst="rect">
            <a:avLst/>
          </a:prstGeom>
          <a:noFill/>
        </p:spPr>
        <p:txBody>
          <a:bodyPr wrap="square" lIns="76200" rIns="50800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232D37"/>
                </a:solidFill>
                <a:latin typeface="Aptos"/>
              </a:defRPr>
            </a:pPr>
            <a:r>
              <a:t>The equal-variance assumption is not supported across the three periods.</a:t>
            </a:r>
          </a:p>
          <a:p>
            <a:pPr>
              <a:spcAft>
                <a:spcPts val="800"/>
              </a:spcAft>
              <a:defRPr sz="1350">
                <a:solidFill>
                  <a:srgbClr val="232D37"/>
                </a:solidFill>
                <a:latin typeface="Aptos"/>
              </a:defRPr>
            </a:pPr>
            <a:r>
              <a:t>COVID Shock shows much greater dispersion than the other periods.</a:t>
            </a:r>
          </a:p>
          <a:p>
            <a:pPr>
              <a:spcAft>
                <a:spcPts val="800"/>
              </a:spcAft>
              <a:defRPr sz="1350">
                <a:solidFill>
                  <a:srgbClr val="232D37"/>
                </a:solidFill>
                <a:latin typeface="Aptos"/>
              </a:defRPr>
            </a:pPr>
            <a:r>
              <a:t>This strengthens the case for reporting non-parametric evidence alongside the classical ANOVA.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880360"/>
            <a:ext cx="4846320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500" b="1">
                <a:solidFill>
                  <a:srgbClr val="0F1F34"/>
                </a:solidFill>
                <a:latin typeface="Aptos"/>
              </a:defRPr>
            </a:pPr>
            <a:r>
              <a:t>Group dispersion from descriptive statistics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172200" y="3291840"/>
          <a:ext cx="502920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62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SD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Variance (approx.)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62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Pre-COVID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0.9104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1.0140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1.0283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62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COVID Shock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3.9949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2.9500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8.7026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63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1.0200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0.8584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0.7369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502920" y="1660677"/>
            <a:ext cx="6583680" cy="3673804"/>
          </a:xfrm>
          <a:prstGeom prst="rect">
            <a:avLst/>
          </a:prstGeom>
          <a:noFill/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One-Way ANOVA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77380"/>
                </a:solidFill>
                <a:latin typeface="Aptos"/>
              </a:defRPr>
            </a:pPr>
            <a:r>
              <a:t>Classical comparison of mean absolute daily returns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77380"/>
                </a:solidFill>
                <a:latin typeface="Aptos"/>
              </a:defRPr>
            </a:pPr>
            <a:r>
              <a:t>Computational Finance Project | IIT (ISM) Dhanbad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380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8" name="Picture 7" descr="8257fa03-823c-4df7-a08f-cebeb1f5a9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60677"/>
            <a:ext cx="6583680" cy="367380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0" y="1234440"/>
            <a:ext cx="4160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0" y="1234440"/>
            <a:ext cx="64008" cy="1280160"/>
          </a:xfrm>
          <a:prstGeom prst="rect">
            <a:avLst/>
          </a:prstGeom>
          <a:solidFill>
            <a:srgbClr val="B9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79792" y="1399032"/>
            <a:ext cx="388620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050" b="1">
                <a:solidFill>
                  <a:srgbClr val="677380"/>
                </a:solidFill>
                <a:latin typeface="Aptos"/>
              </a:defRPr>
            </a:pPr>
            <a:r>
              <a:t>ANOVA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792" y="1728216"/>
            <a:ext cx="3886200" cy="43891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400" b="1">
                <a:solidFill>
                  <a:srgbClr val="0F1F34"/>
                </a:solidFill>
                <a:latin typeface="Aptos"/>
              </a:defRPr>
            </a:pPr>
            <a:r>
              <a:t>F(2,249) = 57.96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9792" y="2130552"/>
            <a:ext cx="388620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919" b="0">
                <a:solidFill>
                  <a:srgbClr val="677380"/>
                </a:solidFill>
                <a:latin typeface="Aptos"/>
              </a:defRPr>
            </a:pPr>
            <a:r>
              <a:t>p &lt; 0.001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743200"/>
            <a:ext cx="4160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0" y="2743200"/>
            <a:ext cx="64008" cy="1280160"/>
          </a:xfrm>
          <a:prstGeom prst="rect">
            <a:avLst/>
          </a:prstGeom>
          <a:solidFill>
            <a:srgbClr val="A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79792" y="2907792"/>
            <a:ext cx="388620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050" b="1">
                <a:solidFill>
                  <a:srgbClr val="677380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3236976"/>
            <a:ext cx="3886200" cy="43891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400" b="1">
                <a:solidFill>
                  <a:srgbClr val="0F1F34"/>
                </a:solidFill>
                <a:latin typeface="Aptos"/>
              </a:defRPr>
            </a:pPr>
            <a:r>
              <a:t>Reject H₀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792" y="3639312"/>
            <a:ext cx="388620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919" b="0">
                <a:solidFill>
                  <a:srgbClr val="677380"/>
                </a:solidFill>
                <a:latin typeface="Aptos"/>
              </a:defRPr>
            </a:pPr>
            <a:r>
              <a:t>Mean absolute returns differ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4343400"/>
            <a:ext cx="3977639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400" b="1">
                <a:solidFill>
                  <a:srgbClr val="0F1F34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709160"/>
            <a:ext cx="4069080" cy="1188720"/>
          </a:xfrm>
          <a:prstGeom prst="rect">
            <a:avLst/>
          </a:prstGeom>
          <a:noFill/>
        </p:spPr>
        <p:txBody>
          <a:bodyPr wrap="square" lIns="76200" rIns="5080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232D37"/>
                </a:solidFill>
                <a:latin typeface="Aptos"/>
              </a:defRPr>
            </a:pPr>
            <a:r>
              <a:t>The three group means are not all equal.</a:t>
            </a:r>
          </a:p>
          <a:p>
            <a:pPr>
              <a:spcAft>
                <a:spcPts val="800"/>
              </a:spcAft>
              <a:defRPr sz="1150">
                <a:solidFill>
                  <a:srgbClr val="232D37"/>
                </a:solidFill>
                <a:latin typeface="Aptos"/>
              </a:defRPr>
            </a:pPr>
            <a:r>
              <a:t>The strongest descriptive shift is the elevated COVID Shock mean.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080760"/>
            <a:ext cx="640080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850" b="0">
                <a:solidFill>
                  <a:srgbClr val="677380"/>
                </a:solidFill>
                <a:latin typeface="Aptos"/>
              </a:defRPr>
            </a:pPr>
            <a:r>
              <a:t>Stata output retained as an evidence snapshot; the presentation table above is used for readability.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Kruskal–Wallis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77380"/>
                </a:solidFill>
                <a:latin typeface="Aptos"/>
              </a:defRPr>
            </a:pPr>
            <a:r>
              <a:t>Non-parametric confirmation of differences across all three periods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77380"/>
                </a:solidFill>
                <a:latin typeface="Aptos"/>
              </a:defRPr>
            </a:pPr>
            <a:r>
              <a:t>Computational Finance Project | IIT (ISM) Dhanbad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3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8872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188720"/>
            <a:ext cx="64008" cy="1371600"/>
          </a:xfrm>
          <a:prstGeom prst="rect">
            <a:avLst/>
          </a:prstGeom>
          <a:solidFill>
            <a:srgbClr val="26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353312"/>
            <a:ext cx="306324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050" b="1">
                <a:solidFill>
                  <a:srgbClr val="677380"/>
                </a:solidFill>
                <a:latin typeface="Aptos"/>
              </a:defRPr>
            </a:pPr>
            <a:r>
              <a:t>TEST STATISTIC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682496"/>
            <a:ext cx="3063240" cy="43891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400" b="1">
                <a:solidFill>
                  <a:srgbClr val="0F1F34"/>
                </a:solidFill>
                <a:latin typeface="Aptos"/>
              </a:defRPr>
            </a:pPr>
            <a:r>
              <a:t>χ²(2) = 23.634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176272"/>
            <a:ext cx="306324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919" b="0">
                <a:solidFill>
                  <a:srgbClr val="677380"/>
                </a:solidFill>
                <a:latin typeface="Aptos"/>
              </a:defRPr>
            </a:pPr>
            <a:r>
              <a:t>Tie-adjusted result is identical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18872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188720"/>
            <a:ext cx="64008" cy="1371600"/>
          </a:xfrm>
          <a:prstGeom prst="rect">
            <a:avLst/>
          </a:prstGeom>
          <a:solidFill>
            <a:srgbClr val="A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9431" y="1353312"/>
            <a:ext cx="306324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050" b="1">
                <a:solidFill>
                  <a:srgbClr val="677380"/>
                </a:solidFill>
                <a:latin typeface="Aptos"/>
              </a:defRPr>
            </a:pPr>
            <a:r>
              <a:t>P-VALUE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1" y="1682496"/>
            <a:ext cx="3063240" cy="43891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400" b="1">
                <a:solidFill>
                  <a:srgbClr val="0F1F34"/>
                </a:solidFill>
                <a:latin typeface="Aptos"/>
              </a:defRPr>
            </a:pPr>
            <a:r>
              <a:t>0.0001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1" y="2176272"/>
            <a:ext cx="306324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919" b="0">
                <a:solidFill>
                  <a:srgbClr val="677380"/>
                </a:solidFill>
                <a:latin typeface="Aptos"/>
              </a:defRPr>
            </a:pPr>
            <a:r>
              <a:t>Statistically significant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18872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83879" y="1188720"/>
            <a:ext cx="64008" cy="1371600"/>
          </a:xfrm>
          <a:prstGeom prst="rect">
            <a:avLst/>
          </a:prstGeom>
          <a:solidFill>
            <a:srgbClr val="B9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48471" y="1353312"/>
            <a:ext cx="306324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050" b="1">
                <a:solidFill>
                  <a:srgbClr val="677380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1682496"/>
            <a:ext cx="3063240" cy="43891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400" b="1">
                <a:solidFill>
                  <a:srgbClr val="0F1F34"/>
                </a:solidFill>
                <a:latin typeface="Aptos"/>
              </a:defRPr>
            </a:pPr>
            <a:r>
              <a:t>Reject H₀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2176272"/>
            <a:ext cx="306324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919" b="0">
                <a:solidFill>
                  <a:srgbClr val="677380"/>
                </a:solidFill>
                <a:latin typeface="Aptos"/>
              </a:defRPr>
            </a:pPr>
            <a:r>
              <a:t>At least one period differs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971800"/>
            <a:ext cx="5212080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500" b="1">
                <a:solidFill>
                  <a:srgbClr val="0F1F34"/>
                </a:solidFill>
                <a:latin typeface="Aptos"/>
              </a:defRPr>
            </a:pPr>
            <a:r>
              <a:t>Rank-sum evidence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31520" y="3383280"/>
          <a:ext cx="47548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Rank sum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Pre-COVID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4,813.00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COVID Shock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3,828.00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23,237.00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263640" y="2971800"/>
            <a:ext cx="4846320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500" b="1">
                <a:solidFill>
                  <a:srgbClr val="0F1F34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383280"/>
            <a:ext cx="4846320" cy="2148840"/>
          </a:xfrm>
          <a:prstGeom prst="rect">
            <a:avLst/>
          </a:prstGeom>
          <a:noFill/>
        </p:spPr>
        <p:txBody>
          <a:bodyPr wrap="square" lIns="76200" rIns="50800">
            <a:spAutoFit/>
          </a:bodyPr>
          <a:lstStyle/>
          <a:p>
            <a:pPr>
              <a:spcAft>
                <a:spcPts val="800"/>
              </a:spcAft>
              <a:defRPr sz="1320">
                <a:solidFill>
                  <a:srgbClr val="232D37"/>
                </a:solidFill>
                <a:latin typeface="Aptos"/>
              </a:defRPr>
            </a:pPr>
            <a:r>
              <a:t>The result does not rely on normality or equal-variance assumptions.</a:t>
            </a:r>
          </a:p>
          <a:p>
            <a:pPr>
              <a:spcAft>
                <a:spcPts val="800"/>
              </a:spcAft>
              <a:defRPr sz="1320">
                <a:solidFill>
                  <a:srgbClr val="232D37"/>
                </a:solidFill>
                <a:latin typeface="Aptos"/>
              </a:defRPr>
            </a:pPr>
            <a:r>
              <a:t>It confirms that the distribution/rank location of absolute daily returns differs across the three periods.</a:t>
            </a:r>
          </a:p>
          <a:p>
            <a:pPr>
              <a:spcAft>
                <a:spcPts val="800"/>
              </a:spcAft>
              <a:defRPr sz="1320">
                <a:solidFill>
                  <a:srgbClr val="232D37"/>
                </a:solidFill>
                <a:latin typeface="Aptos"/>
              </a:defRPr>
            </a:pPr>
            <a:r>
              <a:t>This independently supports the central conclusion from ANOVA.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Pairwise Wilcoxon Rank-Sum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77380"/>
                </a:solidFill>
                <a:latin typeface="Aptos"/>
              </a:defRPr>
            </a:pPr>
            <a:r>
              <a:t>Identifying which period comparisons drive the overall difference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77380"/>
                </a:solidFill>
                <a:latin typeface="Aptos"/>
              </a:defRPr>
            </a:pPr>
            <a:r>
              <a:t>Computational Finance Project | IIT (ISM) Dhanbad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380"/>
                </a:solidFill>
                <a:latin typeface="Aptos"/>
              </a:defRPr>
            </a:pPr>
            <a: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188720"/>
          <a:ext cx="96012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Comparison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z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At α*=0.01667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Pre-COVID vs COVID Shock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−4.254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Significant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Reject H₀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COVID Shock vs Recovery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+4.561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Significant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Reject H₀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Pre-COVID vs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−1.453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0.1463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Not significant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Fail to reject H₀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3749039"/>
            <a:ext cx="5212080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500" b="1">
                <a:solidFill>
                  <a:srgbClr val="0F1F34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14800"/>
            <a:ext cx="5166360" cy="1691640"/>
          </a:xfrm>
          <a:prstGeom prst="rect">
            <a:avLst/>
          </a:prstGeom>
          <a:noFill/>
        </p:spPr>
        <p:txBody>
          <a:bodyPr wrap="square" lIns="76200" rIns="50800">
            <a:spAutoFit/>
          </a:bodyPr>
          <a:lstStyle/>
          <a:p>
            <a:pPr>
              <a:spcAft>
                <a:spcPts val="800"/>
              </a:spcAft>
              <a:defRPr sz="1320">
                <a:solidFill>
                  <a:srgbClr val="232D37"/>
                </a:solidFill>
                <a:latin typeface="Aptos"/>
              </a:defRPr>
            </a:pPr>
            <a:r>
              <a:t>COVID Shock is significantly different from both Pre-COVID and Recovery.</a:t>
            </a:r>
          </a:p>
          <a:p>
            <a:pPr>
              <a:spcAft>
                <a:spcPts val="800"/>
              </a:spcAft>
              <a:defRPr sz="1320">
                <a:solidFill>
                  <a:srgbClr val="232D37"/>
                </a:solidFill>
                <a:latin typeface="Aptos"/>
              </a:defRPr>
            </a:pPr>
            <a:r>
              <a:t>Pre-COVID and Recovery are statistically comparable in the pairwise rank-sum test.</a:t>
            </a:r>
          </a:p>
          <a:p>
            <a:pPr>
              <a:spcAft>
                <a:spcPts val="800"/>
              </a:spcAft>
              <a:defRPr sz="1320">
                <a:solidFill>
                  <a:srgbClr val="232D37"/>
                </a:solidFill>
                <a:latin typeface="Aptos"/>
              </a:defRPr>
            </a:pPr>
            <a:r>
              <a:t>This pattern is consistent with a temporary shock followed by normalization.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749039"/>
            <a:ext cx="4754880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500" b="1">
                <a:solidFill>
                  <a:srgbClr val="0F1F34"/>
                </a:solidFill>
                <a:latin typeface="Aptos"/>
              </a:defRPr>
            </a:pPr>
            <a:r>
              <a:t>Multiple-comparison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160520"/>
            <a:ext cx="4663440" cy="10972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320" b="0">
                <a:solidFill>
                  <a:srgbClr val="232D37"/>
                </a:solidFill>
                <a:latin typeface="Aptos"/>
              </a:defRPr>
            </a:pPr>
            <a:r>
              <a:t>Three pairwise tests were conducted. The Bonferroni-adjusted threshold was set at α* = 0.01667. The two COVID Shock comparisons remain significant; Pre-COVID vs Recovery does not.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440680"/>
            <a:ext cx="4663440" cy="5029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950" b="0">
                <a:solidFill>
                  <a:srgbClr val="677380"/>
                </a:solidFill>
                <a:latin typeface="Aptos"/>
              </a:defRPr>
            </a:pPr>
            <a:r>
              <a:t>Note: Stata’s default two-sided p-values are reported for the rank-sum tests.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Integrated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77380"/>
                </a:solidFill>
                <a:latin typeface="Aptos"/>
              </a:defRPr>
            </a:pPr>
            <a:r>
              <a:t>Putting descriptive, parametric and non-parametric evidence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77380"/>
                </a:solidFill>
                <a:latin typeface="Aptos"/>
              </a:defRPr>
            </a:pPr>
            <a:r>
              <a:t>Computational Finance Project | IIT (ISM) Dhanbad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3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51560"/>
            <a:ext cx="10881360" cy="1143000"/>
          </a:xfrm>
          <a:prstGeom prst="round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307592"/>
            <a:ext cx="10332720" cy="5486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The evidence points to a pronounced, statistically significant increase in market-movement magnitude during the COVID Shock period, followed by substantial normalization during Recovery.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14600"/>
            <a:ext cx="33375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514600"/>
            <a:ext cx="64008" cy="2240280"/>
          </a:xfrm>
          <a:prstGeom prst="rect">
            <a:avLst/>
          </a:prstGeom>
          <a:solidFill>
            <a:srgbClr val="2E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2679192"/>
            <a:ext cx="306324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050" b="1">
                <a:solidFill>
                  <a:srgbClr val="677380"/>
                </a:solidFill>
                <a:latin typeface="Aptos"/>
              </a:defRPr>
            </a:pPr>
            <a:r>
              <a:t>MAGNITUDE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008376"/>
            <a:ext cx="3063240" cy="43891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800" b="1">
                <a:solidFill>
                  <a:srgbClr val="0F1F34"/>
                </a:solidFill>
                <a:latin typeface="Aptos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1" y="3063240"/>
            <a:ext cx="2971800" cy="1417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230" b="0">
                <a:solidFill>
                  <a:srgbClr val="232D37"/>
                </a:solidFill>
                <a:latin typeface="Aptos"/>
              </a:defRPr>
            </a:pPr>
            <a:r>
              <a:t>COVID Shock mean absolute return = 3.9949%, versus 0.9104% Pre-COVID and 1.0200% Recovery.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514600"/>
            <a:ext cx="33375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680" y="2514600"/>
            <a:ext cx="64008" cy="2240280"/>
          </a:xfrm>
          <a:prstGeom prst="rect">
            <a:avLst/>
          </a:prstGeom>
          <a:solidFill>
            <a:srgbClr val="26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62272" y="2679192"/>
            <a:ext cx="306324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050" b="1">
                <a:solidFill>
                  <a:srgbClr val="677380"/>
                </a:solidFill>
                <a:latin typeface="Aptos"/>
              </a:defRPr>
            </a:pPr>
            <a:r>
              <a:t>ASSUMPTIONS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3008376"/>
            <a:ext cx="3063240" cy="43891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800" b="1">
                <a:solidFill>
                  <a:srgbClr val="0F1F34"/>
                </a:solidFill>
                <a:latin typeface="Aptos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62272" y="3063240"/>
            <a:ext cx="2971800" cy="1417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230" b="0">
                <a:solidFill>
                  <a:srgbClr val="232D37"/>
                </a:solidFill>
                <a:latin typeface="Aptos"/>
              </a:defRPr>
            </a:pPr>
            <a:r>
              <a:t>Normality is not satisfied in two groups and variances are significantly unequal; therefore assumption-robust evidence is important.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2514600"/>
            <a:ext cx="33375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55279" y="2514600"/>
            <a:ext cx="64008" cy="2240280"/>
          </a:xfrm>
          <a:prstGeom prst="rect">
            <a:avLst/>
          </a:prstGeom>
          <a:solidFill>
            <a:srgbClr val="B9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19871" y="2679192"/>
            <a:ext cx="306324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050" b="1">
                <a:solidFill>
                  <a:srgbClr val="677380"/>
                </a:solidFill>
                <a:latin typeface="Aptos"/>
              </a:defRPr>
            </a:pPr>
            <a:r>
              <a:t>INFERENCE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1" y="3008376"/>
            <a:ext cx="3063240" cy="43891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800" b="1">
                <a:solidFill>
                  <a:srgbClr val="0F1F34"/>
                </a:solidFill>
                <a:latin typeface="Aptos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19871" y="3063240"/>
            <a:ext cx="2971800" cy="1417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230" b="0">
                <a:solidFill>
                  <a:srgbClr val="232D37"/>
                </a:solidFill>
                <a:latin typeface="Aptos"/>
              </a:defRPr>
            </a:pPr>
            <a:r>
              <a:t>ANOVA and Kruskal–Wallis both reject equality across periods; pairwise tests isolate the COVID Shock differences.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66360"/>
            <a:ext cx="10515600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500" b="1">
                <a:solidFill>
                  <a:srgbClr val="0F1F34"/>
                </a:solidFill>
                <a:latin typeface="Aptos"/>
              </a:defRPr>
            </a:pPr>
            <a:r>
              <a:t>Overall analytical message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532120"/>
            <a:ext cx="10515600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320" b="0">
                <a:solidFill>
                  <a:srgbClr val="232D37"/>
                </a:solidFill>
                <a:latin typeface="Aptos"/>
              </a:defRPr>
            </a:pPr>
            <a:r>
              <a:t>The COVID Shock period is the clear outlier in the analysis. Recovery is not statistically different from Pre-COVID in the pairwise Wilcoxon test, suggesting a return toward the pre-shock distribution of absolute daily returns.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77380"/>
                </a:solidFill>
                <a:latin typeface="Aptos"/>
              </a:defRPr>
            </a:pPr>
            <a:r>
              <a:t>Answering the research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77380"/>
                </a:solidFill>
                <a:latin typeface="Aptos"/>
              </a:defRPr>
            </a:pPr>
            <a:r>
              <a:t>Computational Finance Project | IIT (ISM) Dhanbad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38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10789920" cy="2743200"/>
          </a:xfrm>
          <a:prstGeom prst="rect">
            <a:avLst/>
          </a:prstGeom>
          <a:noFill/>
        </p:spPr>
        <p:txBody>
          <a:bodyPr wrap="square" lIns="76200" rIns="5080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7"/>
                </a:solidFill>
                <a:latin typeface="Aptos"/>
              </a:defRPr>
            </a:pPr>
            <a:r>
              <a:t>COVID Shock is associated with a markedly higher magnitude of daily market movements, reflected in the highest mean and dispersion of absolute daily returns.</a:t>
            </a:r>
          </a:p>
          <a:p>
            <a:pPr>
              <a:spcAft>
                <a:spcPts val="800"/>
              </a:spcAft>
              <a:defRPr sz="1400">
                <a:solidFill>
                  <a:srgbClr val="232D37"/>
                </a:solidFill>
                <a:latin typeface="Aptos"/>
              </a:defRPr>
            </a:pPr>
            <a:r>
              <a:t>The difference across periods is statistically significant under both classical ANOVA and the non-parametric Kruskal–Wallis framework.</a:t>
            </a:r>
          </a:p>
          <a:p>
            <a:pPr>
              <a:spcAft>
                <a:spcPts val="800"/>
              </a:spcAft>
              <a:defRPr sz="1400">
                <a:solidFill>
                  <a:srgbClr val="232D37"/>
                </a:solidFill>
                <a:latin typeface="Aptos"/>
              </a:defRPr>
            </a:pPr>
            <a:r>
              <a:t>Pairwise Wilcoxon tests confirm significant differences between COVID Shock and each of the other periods.</a:t>
            </a:r>
          </a:p>
          <a:p>
            <a:pPr>
              <a:spcAft>
                <a:spcPts val="800"/>
              </a:spcAft>
              <a:defRPr sz="1400">
                <a:solidFill>
                  <a:srgbClr val="232D37"/>
                </a:solidFill>
                <a:latin typeface="Aptos"/>
              </a:defRPr>
            </a:pPr>
            <a:r>
              <a:t>The Pre-COVID vs Recovery comparison is not statistically significant (p = 0.1463), indicating no evidence of a persistent difference between these two periods under the selected non-parametric test.</a:t>
            </a:r>
          </a:p>
          <a:p>
            <a:pPr>
              <a:spcAft>
                <a:spcPts val="800"/>
              </a:spcAft>
              <a:defRPr sz="1400">
                <a:solidFill>
                  <a:srgbClr val="232D37"/>
                </a:solidFill>
                <a:latin typeface="Aptos"/>
              </a:defRPr>
            </a:pPr>
            <a:r>
              <a:t>The results therefore support a temporary COVID-related disruption followed by substantial recovery toward pre-COVID conditions.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1069848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590288"/>
            <a:ext cx="10241280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700" b="1">
                <a:solidFill>
                  <a:srgbClr val="0F1F34"/>
                </a:solidFill>
                <a:latin typeface="Aptos"/>
              </a:defRPr>
            </a:pPr>
            <a:r>
              <a:t>Final conclusion: The JSE/ALSI market exhibited a clear volatility shock during the COVID Shock period, while Recovery moved back toward the Pre-COVID level.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Limitations &amp; Methodological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77380"/>
                </a:solidFill>
                <a:latin typeface="Aptos"/>
              </a:defRPr>
            </a:pPr>
            <a:r>
              <a:t>Important qualifications for interpretation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77380"/>
                </a:solidFill>
                <a:latin typeface="Aptos"/>
              </a:defRPr>
            </a:pPr>
            <a:r>
              <a:t>Computational Finance Project | IIT (ISM) Dhanbad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3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698480" cy="4480560"/>
          </a:xfrm>
          <a:prstGeom prst="rect">
            <a:avLst/>
          </a:prstGeom>
          <a:noFill/>
        </p:spPr>
        <p:txBody>
          <a:bodyPr wrap="square" lIns="76200" rIns="50800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232D37"/>
                </a:solidFill>
                <a:latin typeface="Aptos"/>
              </a:defRPr>
            </a:pPr>
            <a:r>
              <a:t>The analysis uses absolute daily return as a proxy for the magnitude of market movements; it is not a direct estimate of implied or realized volatility.</a:t>
            </a:r>
          </a:p>
          <a:p>
            <a:pPr>
              <a:spcAft>
                <a:spcPts val="800"/>
              </a:spcAft>
              <a:defRPr sz="1350">
                <a:solidFill>
                  <a:srgbClr val="232D37"/>
                </a:solidFill>
                <a:latin typeface="Aptos"/>
              </a:defRPr>
            </a:pPr>
            <a:r>
              <a:t>The three analytical periods are defined classifications within the dataset; 249 of the 501 observations fall outside those period labels and are not used in the inferential comparison.</a:t>
            </a:r>
          </a:p>
          <a:p>
            <a:pPr>
              <a:spcAft>
                <a:spcPts val="800"/>
              </a:spcAft>
              <a:defRPr sz="1350">
                <a:solidFill>
                  <a:srgbClr val="232D37"/>
                </a:solidFill>
                <a:latin typeface="Aptos"/>
              </a:defRPr>
            </a:pPr>
            <a:r>
              <a:t>The COVID Shock group contains only 19 observations, so its normality assessment has limited power and should be interpreted alongside graphical and non-parametric evidence.</a:t>
            </a:r>
          </a:p>
          <a:p>
            <a:pPr>
              <a:spcAft>
                <a:spcPts val="800"/>
              </a:spcAft>
              <a:defRPr sz="1350">
                <a:solidFill>
                  <a:srgbClr val="232D37"/>
                </a:solidFill>
                <a:latin typeface="Aptos"/>
              </a:defRPr>
            </a:pPr>
            <a:r>
              <a:t>The unequal-variance and non-normality findings mean the ANOVA result should be interpreted together with the Kruskal–Wallis and Wilcoxon results rather than in isolation.</a:t>
            </a:r>
          </a:p>
          <a:p>
            <a:pPr>
              <a:spcAft>
                <a:spcPts val="800"/>
              </a:spcAft>
              <a:defRPr sz="1350">
                <a:solidFill>
                  <a:srgbClr val="232D37"/>
                </a:solidFill>
                <a:latin typeface="Aptos"/>
              </a:defRPr>
            </a:pPr>
            <a:r>
              <a:t>The analysis establishes statistical association across periods; it does not by itself identify every causal mechanism behind market movements.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Submission &amp; Reproducibility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77380"/>
                </a:solidFill>
                <a:latin typeface="Aptos"/>
              </a:defRPr>
            </a:pPr>
            <a:r>
              <a:t>Final Stata artifacts used for the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77380"/>
                </a:solidFill>
                <a:latin typeface="Aptos"/>
              </a:defRPr>
            </a:pPr>
            <a:r>
              <a:t>Computational Finance Project | IIT (ISM) Dhanbad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38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25880"/>
            <a:ext cx="5029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325880"/>
            <a:ext cx="64008" cy="1463040"/>
          </a:xfrm>
          <a:prstGeom prst="rect">
            <a:avLst/>
          </a:prstGeom>
          <a:solidFill>
            <a:srgbClr val="2E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1490472"/>
            <a:ext cx="475488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050" b="1">
                <a:solidFill>
                  <a:srgbClr val="677380"/>
                </a:solidFill>
                <a:latin typeface="Aptos"/>
              </a:defRPr>
            </a:pPr>
            <a:r>
              <a:t>FINAL DATA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819656"/>
            <a:ext cx="4754880" cy="43891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700" b="1">
                <a:solidFill>
                  <a:srgbClr val="0F1F34"/>
                </a:solidFill>
                <a:latin typeface="Aptos"/>
              </a:defRPr>
            </a:pPr>
            <a:r>
              <a:t>JSE_ALSI_COVID_FINAL_ANALYSIS.dta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04872"/>
            <a:ext cx="475488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919" b="0">
                <a:solidFill>
                  <a:srgbClr val="677380"/>
                </a:solidFill>
                <a:latin typeface="Aptos"/>
              </a:defRPr>
            </a:pPr>
            <a:r>
              <a:t>Final Stata dataset with analytical variables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325880"/>
            <a:ext cx="5029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1325880"/>
            <a:ext cx="64008" cy="1463040"/>
          </a:xfrm>
          <a:prstGeom prst="rect">
            <a:avLst/>
          </a:prstGeom>
          <a:solidFill>
            <a:srgbClr val="26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9672" y="1490472"/>
            <a:ext cx="475488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050" b="1">
                <a:solidFill>
                  <a:srgbClr val="677380"/>
                </a:solidFill>
                <a:latin typeface="Aptos"/>
              </a:defRPr>
            </a:pPr>
            <a:r>
              <a:t>FINAL LOG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1819656"/>
            <a:ext cx="4754880" cy="43891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700" b="1">
                <a:solidFill>
                  <a:srgbClr val="0F1F34"/>
                </a:solidFill>
                <a:latin typeface="Aptos"/>
              </a:defRPr>
            </a:pPr>
            <a:r>
              <a:t>JSE_ALSI_COVID_FINAL_ANALYSIS.smcl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404872"/>
            <a:ext cx="4754880" cy="25603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919" b="0">
                <a:solidFill>
                  <a:srgbClr val="677380"/>
                </a:solidFill>
                <a:latin typeface="Aptos"/>
              </a:defRPr>
            </a:pPr>
            <a:r>
              <a:t>Final closed SMCL log containing the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37560"/>
            <a:ext cx="5029200" cy="320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400" b="1">
                <a:solidFill>
                  <a:srgbClr val="0F1F34"/>
                </a:solidFill>
                <a:latin typeface="Aptos"/>
              </a:defRPr>
            </a:pPr>
            <a:r>
              <a:t>Key variables in the final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03320"/>
            <a:ext cx="4846320" cy="1645920"/>
          </a:xfrm>
          <a:prstGeom prst="rect">
            <a:avLst/>
          </a:prstGeom>
          <a:noFill/>
        </p:spPr>
        <p:txBody>
          <a:bodyPr wrap="square" lIns="76200" rIns="5080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t>date_stata</a:t>
            </a:r>
          </a:p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t>daily_return</a:t>
            </a:r>
          </a:p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t>abs_daily_return</a:t>
            </a:r>
          </a:p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t>period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337560"/>
            <a:ext cx="5029200" cy="320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400" b="1">
                <a:solidFill>
                  <a:srgbClr val="0F1F34"/>
                </a:solidFill>
                <a:latin typeface="Aptos"/>
              </a:defRPr>
            </a:pPr>
            <a:r>
              <a:t>Key analyses in the final SMCL 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03320"/>
            <a:ext cx="4846320" cy="1645920"/>
          </a:xfrm>
          <a:prstGeom prst="rect">
            <a:avLst/>
          </a:prstGeom>
          <a:noFill/>
        </p:spPr>
        <p:txBody>
          <a:bodyPr wrap="square" lIns="76200" rIns="5080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t>Descriptive statistics</a:t>
            </a:r>
          </a:p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t>Shapiro–Wilk normality</a:t>
            </a:r>
          </a:p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t>Robust variance test</a:t>
            </a:r>
          </a:p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t>ANOVA, Kruskal–Wallis and Wilcoxon tests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832"/>
            <a:ext cx="12191695" cy="6858000"/>
          </a:xfrm>
          <a:prstGeom prst="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674620"/>
            <a:ext cx="10789920" cy="769441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rPr sz="4400" dirty="0"/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320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Tushar Mukesh Gupta | 25MB0108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51960"/>
            <a:ext cx="10332720" cy="320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150" b="0">
                <a:solidFill>
                  <a:srgbClr val="CDDAE6"/>
                </a:solidFill>
                <a:latin typeface="Aptos"/>
              </a:defRPr>
            </a:pPr>
            <a:r>
              <a:t>MBA (Business Analytics) | IIT (ISM) Dhanbad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2182</Words>
  <Application>Microsoft Office PowerPoint</Application>
  <PresentationFormat>Widescreen</PresentationFormat>
  <Paragraphs>362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Tushar Gupta</dc:creator>
  <cp:keywords/>
  <dc:description>generated using python-pptx</dc:description>
  <cp:lastModifiedBy>Tushar Gupta</cp:lastModifiedBy>
  <cp:revision>2</cp:revision>
  <dcterms:created xsi:type="dcterms:W3CDTF">2013-01-27T09:14:16Z</dcterms:created>
  <dcterms:modified xsi:type="dcterms:W3CDTF">2026-08-20T11:20:51Z</dcterms:modified>
  <cp:category/>
</cp:coreProperties>
</file>